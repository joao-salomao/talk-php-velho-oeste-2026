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embeddedFontLst>
    <p:embeddedFont>
      <p:font typeface="Manrope"/>
      <p:regular r:id="rId25"/>
      <p:bold r:id="rId26"/>
    </p:embeddedFont>
    <p:embeddedFont>
      <p:font typeface="Manrope Medium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28" Type="http://schemas.openxmlformats.org/officeDocument/2006/relationships/font" Target="fonts/ManropeMedium-bold.fntdata"/><Relationship Id="rId27" Type="http://schemas.openxmlformats.org/officeDocument/2006/relationships/font" Target="fonts/Manrope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</a:t>
            </a:r>
            <a:r>
              <a:rPr lang="en-US"/>
              <a:t>ópicos da talk: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Fundamentos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Ecossistema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Hands-on demo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Aprendizados e recomendacoes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2bfe9ab3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e2bfe9ab3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e2bfe9ab3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</a:t>
            </a:r>
            <a:r>
              <a:rPr lang="en-US"/>
              <a:t>çoes locais, funcoes do provider (e.g Web Search)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meses sem updates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Laravel AI SDK removeu o pacote completamente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Muito provavelmente vai ser depreciado logo logo</a:t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469ba6697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e469ba6697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469ba6697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469ba6697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e469ba6697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469ba6697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2bfe9ab30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e2bfe9ab30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2bfe9ab30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“Considere o MCP como uma porta USB-C para aplicações de IA. Assim como o USB-C oferece uma maneira padronizada de conectar dispositivos eletrônicos, o MCP oferece uma maneira padronizada de conectar aplicações de IA a sistemas externos.”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7040880" y="16459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PHP Velho Oeste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457200" y="103991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6FC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B56FC"/>
                </a:solidFill>
                <a:latin typeface="Manrope"/>
                <a:ea typeface="Manrope"/>
                <a:cs typeface="Manrope"/>
                <a:sym typeface="Manrope"/>
              </a:rPr>
              <a:t>PHP VELHO</a:t>
            </a:r>
            <a:r>
              <a:rPr b="1" i="0" lang="en-US" sz="1300" u="none" cap="none" strike="noStrike">
                <a:solidFill>
                  <a:srgbClr val="8B56FC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300" u="none" cap="none" strike="noStrike">
                <a:solidFill>
                  <a:srgbClr val="8B56FC"/>
                </a:solidFill>
                <a:latin typeface="Manrope"/>
                <a:ea typeface="Manrope"/>
                <a:cs typeface="Manrope"/>
                <a:sym typeface="Manrope"/>
              </a:rPr>
              <a:t>OESTE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457200" y="1405674"/>
            <a:ext cx="8229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nrope Medium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Integração de LLMs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nrope Medium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 PHP e Laravel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57200" y="2914434"/>
            <a:ext cx="3657600" cy="411600"/>
          </a:xfrm>
          <a:prstGeom prst="roundRect">
            <a:avLst>
              <a:gd fmla="val 48889" name="adj"/>
            </a:avLst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457200" y="2914434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Construindo um Agente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3783114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João Salomão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10" y="407562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000"/>
              <a:buFont typeface="Manrope"/>
              <a:buNone/>
            </a:pPr>
            <a:r>
              <a:rPr i="1" lang="en-US" sz="1000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Senior Software Engineer at UserGems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30671"/>
          <a:stretch/>
        </p:blipFill>
        <p:spPr>
          <a:xfrm>
            <a:off x="2085675" y="422174"/>
            <a:ext cx="5162799" cy="438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6"/>
          <p:cNvGrpSpPr/>
          <p:nvPr/>
        </p:nvGrpSpPr>
        <p:grpSpPr>
          <a:xfrm>
            <a:off x="457200" y="292608"/>
            <a:ext cx="8229600" cy="1764792"/>
            <a:chOff x="457200" y="292608"/>
            <a:chExt cx="8229600" cy="1764792"/>
          </a:xfrm>
        </p:grpSpPr>
        <p:sp>
          <p:nvSpPr>
            <p:cNvPr id="36" name="Google Shape;36;p6"/>
            <p:cNvSpPr/>
            <p:nvPr/>
          </p:nvSpPr>
          <p:spPr>
            <a:xfrm>
              <a:off x="457200" y="292608"/>
              <a:ext cx="82296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3EFC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7A3EFC"/>
                  </a:solidFill>
                  <a:latin typeface="Manrope"/>
                  <a:ea typeface="Manrope"/>
                  <a:cs typeface="Manrope"/>
                  <a:sym typeface="Manrope"/>
                </a:rPr>
                <a:t>FUNDAMENTOS  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457200" y="566928"/>
              <a:ext cx="82296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O que é uma LLM?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6"/>
            <p:cNvSpPr/>
            <p:nvPr/>
          </p:nvSpPr>
          <p:spPr>
            <a:xfrm>
              <a:off x="457200" y="1133856"/>
              <a:ext cx="502920" cy="36576"/>
            </a:xfrm>
            <a:prstGeom prst="rect">
              <a:avLst/>
            </a:prstGeom>
            <a:solidFill>
              <a:srgbClr val="7A3EFC"/>
            </a:solidFill>
            <a:ln cap="flat" cmpd="sng" w="12700">
              <a:solidFill>
                <a:srgbClr val="7A3E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457200" y="1417320"/>
              <a:ext cx="82296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400"/>
                <a:buFont typeface="Manrope"/>
                <a:buNone/>
              </a:pPr>
              <a:r>
                <a:rPr b="0" i="0" lang="en-US" sz="14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Large Language Model — um modelo de linguagem treinado em bilhões de parâmetros que recebe um prompt e gera texto, token por token, de forma probabilística.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6"/>
          <p:cNvGrpSpPr/>
          <p:nvPr/>
        </p:nvGrpSpPr>
        <p:grpSpPr>
          <a:xfrm>
            <a:off x="457200" y="2240280"/>
            <a:ext cx="4160520" cy="2468880"/>
            <a:chOff x="457200" y="2240280"/>
            <a:chExt cx="4160520" cy="2468880"/>
          </a:xfrm>
        </p:grpSpPr>
        <p:sp>
          <p:nvSpPr>
            <p:cNvPr id="41" name="Google Shape;41;p6"/>
            <p:cNvSpPr/>
            <p:nvPr/>
          </p:nvSpPr>
          <p:spPr>
            <a:xfrm>
              <a:off x="457200" y="2240280"/>
              <a:ext cx="4160520" cy="2468880"/>
            </a:xfrm>
            <a:prstGeom prst="roundRect">
              <a:avLst>
                <a:gd fmla="val 2963" name="adj"/>
              </a:avLst>
            </a:prstGeom>
            <a:solidFill>
              <a:srgbClr val="1A1730">
                <a:alpha val="30196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457200" y="2240280"/>
              <a:ext cx="54864" cy="2468880"/>
            </a:xfrm>
            <a:prstGeom prst="rect">
              <a:avLst/>
            </a:prstGeom>
            <a:solidFill>
              <a:srgbClr val="7A3EFC"/>
            </a:solidFill>
            <a:ln cap="flat" cmpd="sng" w="12700">
              <a:solidFill>
                <a:srgbClr val="7A3E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640080" y="2331720"/>
              <a:ext cx="388620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LLM — o foco desta talk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640080" y="2670048"/>
              <a:ext cx="3886200" cy="1965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Input: texto (prompt)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Output: texto ou JSON estruturado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Capacidades: raciocínio, código, análise, conversação, tool use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Ex.: GPT-5.5, Claude Opus 4.7, Gemini 3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6"/>
          <p:cNvSpPr/>
          <p:nvPr/>
        </p:nvSpPr>
        <p:spPr>
          <a:xfrm>
            <a:off x="4754880" y="2240280"/>
            <a:ext cx="54864" cy="2468880"/>
          </a:xfrm>
          <a:prstGeom prst="rect">
            <a:avLst/>
          </a:prstGeom>
          <a:solidFill>
            <a:srgbClr val="8E91AE"/>
          </a:solidFill>
          <a:ln cap="flat" cmpd="sng" w="12700">
            <a:solidFill>
              <a:srgbClr val="8E91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4754880" y="2240280"/>
            <a:ext cx="3931920" cy="2468880"/>
            <a:chOff x="4754880" y="2240280"/>
            <a:chExt cx="3931920" cy="2468880"/>
          </a:xfrm>
        </p:grpSpPr>
        <p:sp>
          <p:nvSpPr>
            <p:cNvPr id="47" name="Google Shape;47;p6"/>
            <p:cNvSpPr/>
            <p:nvPr/>
          </p:nvSpPr>
          <p:spPr>
            <a:xfrm>
              <a:off x="4754880" y="2240280"/>
              <a:ext cx="3931920" cy="2468880"/>
            </a:xfrm>
            <a:prstGeom prst="roundRect">
              <a:avLst>
                <a:gd fmla="val 2963" name="adj"/>
              </a:avLst>
            </a:prstGeom>
            <a:solidFill>
              <a:srgbClr val="1A1730">
                <a:alpha val="20000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4937760" y="2331720"/>
              <a:ext cx="365760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8E91AE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Outros modelos de IA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4937760" y="2670048"/>
              <a:ext cx="3657600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Geração de imagens (DALL·E, Midjourney)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Geração de áudio (ElevenLabs, Suno)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Geração de vídeo (Sora, Runway)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Char char="●"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Speech-to-text (Whisper)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4937760" y="4370832"/>
              <a:ext cx="3657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1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não são o foco aqui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EF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rPr>
              <a:t>PROVIDERS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Principais providers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457200" y="1569720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457200" y="1569720"/>
            <a:ext cx="2057400" cy="45600"/>
          </a:xfrm>
          <a:prstGeom prst="rect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21792" y="1734312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OpenAI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21792" y="2136648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GPT-5.5, GPT-5.4 mini, GPT-5 nano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633472" y="1569720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2633472" y="1569720"/>
            <a:ext cx="2057400" cy="45600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2798064" y="1734312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Anthropic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2798064" y="2136648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Claude Opus, Sonnet, Haiku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809744" y="1569720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809744" y="1569720"/>
            <a:ext cx="2057400" cy="45600"/>
          </a:xfrm>
          <a:prstGeom prst="rect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974336" y="1734312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Google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974336" y="2136648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Gemini 3.1 Pro / Flash / Flash-lite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986016" y="1569720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6986016" y="1569720"/>
            <a:ext cx="2057400" cy="45600"/>
          </a:xfrm>
          <a:prstGeom prst="rect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7150608" y="1734312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Meta / Llama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150608" y="2136648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Llama 4 Scout / Maverick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3014472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457200" y="3014472"/>
            <a:ext cx="2057400" cy="45600"/>
          </a:xfrm>
          <a:prstGeom prst="rect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621792" y="3179064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xAI / Grok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21792" y="358140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Grok 4.3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633472" y="3014472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2633472" y="3014472"/>
            <a:ext cx="2057400" cy="45600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2798064" y="3179064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Mistral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798064" y="358140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Large, Medium, Small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809744" y="3014472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809744" y="3014472"/>
            <a:ext cx="2057400" cy="45600"/>
          </a:xfrm>
          <a:prstGeom prst="rect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4974336" y="3179064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DeepSeek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974336" y="358140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V4, V3, R1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986016" y="3014472"/>
            <a:ext cx="2057400" cy="1280100"/>
          </a:xfrm>
          <a:prstGeom prst="roundRect">
            <a:avLst>
              <a:gd fmla="val 5714" name="adj"/>
            </a:avLst>
          </a:prstGeom>
          <a:solidFill>
            <a:srgbClr val="1A1730">
              <a:alpha val="34901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986016" y="3014472"/>
            <a:ext cx="2057400" cy="45600"/>
          </a:xfrm>
          <a:prstGeom prst="rect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7150608" y="3179064"/>
            <a:ext cx="17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Maritaca.ai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7150608" y="358140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Sabiá-4, Sabiazinho 4 (BR)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EF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rPr>
              <a:t>PROTOCOLO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Comunicação com a LLM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Tudo começa com uma requisição HTTP POST.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57200" y="1828800"/>
            <a:ext cx="8229600" cy="2606040"/>
          </a:xfrm>
          <a:prstGeom prst="roundRect">
            <a:avLst>
              <a:gd fmla="val 2105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566928" y="193852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676656" y="193852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786384" y="193852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1005840" y="187452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POST /v1/messages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21792" y="2121408"/>
            <a:ext cx="7900416" cy="2221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curl https:</a:t>
            </a:r>
            <a:r>
              <a:rPr b="0" i="0" lang="en-US" sz="1300" u="none" cap="none" strike="noStrike">
                <a:solidFill>
                  <a:srgbClr val="6B7290"/>
                </a:solidFill>
                <a:latin typeface="Arial"/>
                <a:ea typeface="Arial"/>
                <a:cs typeface="Arial"/>
                <a:sym typeface="Arial"/>
              </a:rPr>
              <a:t>//api.anthropic.com/v1/messages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--header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"x-api-key: YOUR_API_KEY"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--header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"Content-Type: application/json"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--data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"model"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"claude-sonnet-4-6"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"max_tokens"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00" u="none" cap="none" strike="noStrike">
                <a:solidFill>
                  <a:srgbClr val="FF937B"/>
                </a:solidFill>
                <a:latin typeface="Arial"/>
                <a:ea typeface="Arial"/>
                <a:cs typeface="Arial"/>
                <a:sym typeface="Arial"/>
              </a:rPr>
              <a:t>1024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"messages"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  {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"role"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"user"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"content"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"Hello, Claude"</a:t>
            </a: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r>
              <a:rPr b="0" i="0" lang="en-US" sz="13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100"/>
              <a:buFont typeface="Manrope"/>
              <a:buNone/>
            </a:pPr>
            <a:r>
              <a:rPr b="0" i="1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Todas as APIs de LLM seguem esse padrão: POST com JSON, modelo, mensagens e parâmetros.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EF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rPr>
              <a:t>PROTOCOLO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Streaming com SSE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Adicione "stream": true e receba tokens em tempo real via Server-Sent Events.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57200" y="1828800"/>
            <a:ext cx="4069080" cy="2697480"/>
          </a:xfrm>
          <a:prstGeom prst="roundRect">
            <a:avLst>
              <a:gd fmla="val 2034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566928" y="193852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676656" y="193852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86384" y="193852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1005840" y="187452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Anthropic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21792" y="2121408"/>
            <a:ext cx="37398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message_start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"type"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"message_start"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...}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content_block_delta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"text"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"The"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content_block_delta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"text"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 sea"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content_block_delta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"text"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 is vast."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content_block_stop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message_stop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617720" y="1828800"/>
            <a:ext cx="4069080" cy="2697480"/>
          </a:xfrm>
          <a:prstGeom prst="roundRect">
            <a:avLst>
              <a:gd fmla="val 2034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727448" y="193852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837176" y="193852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4946904" y="193852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166360" y="187452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OpenAI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782312" y="2121408"/>
            <a:ext cx="37398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response.created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"type"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"response.created"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...}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response.output_text.delta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"Hello"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response.output_text.delta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"!"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response.output_text.delta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data: {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"delta"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 How can I..."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response.output_text.done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event: response.completed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100"/>
              <a:buFont typeface="Manrope"/>
              <a:buNone/>
            </a:pPr>
            <a:r>
              <a:rPr b="0" i="1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Mesmo conceito, nomes de eventos diferentes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EF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rPr>
              <a:t>OUTPUT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Tipos de output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O LLM pode retornar texto livre ou dados estruturados.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57200" y="182880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6FC"/>
              </a:buClr>
              <a:buSzPts val="1300"/>
              <a:buFont typeface="Manrope Medium"/>
              <a:buNone/>
            </a:pPr>
            <a:r>
              <a:rPr b="1" i="0" lang="en-US" sz="1300" u="none" cap="none" strike="noStrike">
                <a:solidFill>
                  <a:srgbClr val="8B56F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Text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57200" y="2148840"/>
            <a:ext cx="4069080" cy="1325880"/>
          </a:xfrm>
          <a:prstGeom prst="roundRect">
            <a:avLst>
              <a:gd fmla="val 4138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566928" y="225856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76656" y="225856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786384" y="225856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621792" y="2441448"/>
            <a:ext cx="3739896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"Quantum computing uses qubits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that can exist </a:t>
            </a:r>
            <a:r>
              <a:rPr b="0" i="0" lang="en-US" sz="10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multiple states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at once, enabling parallel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computation...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57200" y="3520440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000"/>
              <a:buFont typeface="Manrope"/>
              <a:buNone/>
            </a:pPr>
            <a:r>
              <a:rPr b="0" i="1" lang="en-US" sz="10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Chatbots, resumos, análises, redação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617720" y="182880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300"/>
              <a:buFont typeface="Manrope Medium"/>
              <a:buNone/>
            </a:pPr>
            <a:r>
              <a:rPr b="1" i="0" lang="en-US" sz="1300" u="none" cap="none" strike="noStrike">
                <a:solidFill>
                  <a:srgbClr val="2AC9B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Structured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617720" y="2148840"/>
            <a:ext cx="4069080" cy="1325880"/>
          </a:xfrm>
          <a:prstGeom prst="roundRect">
            <a:avLst>
              <a:gd fmla="val 4138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727448" y="225856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4837176" y="225856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946904" y="225856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166360" y="219456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input → schema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782312" y="2441448"/>
            <a:ext cx="3739896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"prompt"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"Analyze sentiment..."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"schema"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"sentiment"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enum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[pos|neg|neu],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"score"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"topics"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[]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}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617720" y="3566160"/>
            <a:ext cx="4069080" cy="1097280"/>
          </a:xfrm>
          <a:prstGeom prst="roundRect">
            <a:avLst>
              <a:gd fmla="val 5000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727448" y="367588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4837176" y="367588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4946904" y="367588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166360" y="361188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782300" y="3798146"/>
            <a:ext cx="3739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"sentiment"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"positive"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"score"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none" cap="none" strike="noStrike">
                <a:solidFill>
                  <a:srgbClr val="FF937B"/>
                </a:solidFill>
                <a:latin typeface="Arial"/>
                <a:ea typeface="Arial"/>
                <a:cs typeface="Arial"/>
                <a:sym typeface="Arial"/>
              </a:rPr>
              <a:t>0.92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"topics"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"ai"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0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"php"</a:t>
            </a: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7720" y="4709160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000"/>
              <a:buFont typeface="Manrope"/>
              <a:buNone/>
            </a:pPr>
            <a:r>
              <a:rPr b="0" i="1" lang="en-US" sz="10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Extração de dados, classificação,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1"/>
          <p:cNvGrpSpPr/>
          <p:nvPr/>
        </p:nvGrpSpPr>
        <p:grpSpPr>
          <a:xfrm>
            <a:off x="457200" y="292608"/>
            <a:ext cx="8229600" cy="1417320"/>
            <a:chOff x="457200" y="292608"/>
            <a:chExt cx="8229600" cy="1417320"/>
          </a:xfrm>
        </p:grpSpPr>
        <p:sp>
          <p:nvSpPr>
            <p:cNvPr id="165" name="Google Shape;165;p11"/>
            <p:cNvSpPr/>
            <p:nvPr/>
          </p:nvSpPr>
          <p:spPr>
            <a:xfrm>
              <a:off x="457200" y="292608"/>
              <a:ext cx="82296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3EFC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7A3EFC"/>
                  </a:solidFill>
                  <a:latin typeface="Manrope"/>
                  <a:ea typeface="Manrope"/>
                  <a:cs typeface="Manrope"/>
                  <a:sym typeface="Manrope"/>
                </a:rPr>
                <a:t>TOOLS </a:t>
              </a:r>
              <a:endParaRPr b="1" sz="1100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3EFC"/>
                </a:buClr>
                <a:buSzPts val="1100"/>
                <a:buFont typeface="Manrope"/>
                <a:buNone/>
              </a:pPr>
              <a:r>
                <a:t/>
              </a:r>
              <a:endParaRPr b="1" sz="1100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457200" y="566928"/>
              <a:ext cx="82296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Tool calling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457200" y="1133856"/>
              <a:ext cx="502920" cy="36576"/>
            </a:xfrm>
            <a:prstGeom prst="rect">
              <a:avLst/>
            </a:prstGeom>
            <a:solidFill>
              <a:srgbClr val="7A3EFC"/>
            </a:solidFill>
            <a:ln cap="flat" cmpd="sng" w="12700">
              <a:solidFill>
                <a:srgbClr val="7A3E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457200" y="1417320"/>
              <a:ext cx="822960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None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O LLM decide quais funções chamar com base no contexto.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1"/>
          <p:cNvGrpSpPr/>
          <p:nvPr/>
        </p:nvGrpSpPr>
        <p:grpSpPr>
          <a:xfrm>
            <a:off x="457200" y="1783080"/>
            <a:ext cx="4069080" cy="1527048"/>
            <a:chOff x="457200" y="1783080"/>
            <a:chExt cx="4069080" cy="1527048"/>
          </a:xfrm>
        </p:grpSpPr>
        <p:sp>
          <p:nvSpPr>
            <p:cNvPr id="170" name="Google Shape;170;p11"/>
            <p:cNvSpPr/>
            <p:nvPr/>
          </p:nvSpPr>
          <p:spPr>
            <a:xfrm>
              <a:off x="457200" y="1783080"/>
              <a:ext cx="406908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200"/>
                <a:buFont typeface="Manrope Medium"/>
                <a:buNone/>
              </a:pPr>
              <a:r>
                <a:rPr b="1" i="0" lang="en-US" sz="1200" u="none" cap="none" strike="noStrike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1. Tool definition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457200" y="2029968"/>
              <a:ext cx="4069080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900"/>
                <a:buFont typeface="Manrope"/>
                <a:buNone/>
              </a:pPr>
              <a:r>
                <a:rPr b="0" i="1" lang="en-US" sz="9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enviada para a API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457200" y="2258568"/>
              <a:ext cx="4069080" cy="1051560"/>
            </a:xfrm>
            <a:prstGeom prst="roundRect">
              <a:avLst>
                <a:gd fmla="val 5217" name="adj"/>
              </a:avLst>
            </a:prstGeom>
            <a:solidFill>
              <a:srgbClr val="0F0E1F"/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566928" y="2368296"/>
              <a:ext cx="73152" cy="73152"/>
            </a:xfrm>
            <a:prstGeom prst="ellipse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676656" y="2368296"/>
              <a:ext cx="73152" cy="73152"/>
            </a:xfrm>
            <a:prstGeom prst="ellipse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786384" y="2368296"/>
              <a:ext cx="73152" cy="73152"/>
            </a:xfrm>
            <a:prstGeom prst="ellipse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621792" y="2470335"/>
              <a:ext cx="37398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"tools"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[{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"name"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"lookup_order"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"description"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"Looks up an order's status"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"input_schema"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{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"type"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"object"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"properties"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{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"id"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{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"type"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"string"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} } 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}]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457200" y="3401568"/>
            <a:ext cx="4069080" cy="1527048"/>
            <a:chOff x="457200" y="3401568"/>
            <a:chExt cx="4069080" cy="1527048"/>
          </a:xfrm>
        </p:grpSpPr>
        <p:sp>
          <p:nvSpPr>
            <p:cNvPr id="178" name="Google Shape;178;p11"/>
            <p:cNvSpPr/>
            <p:nvPr/>
          </p:nvSpPr>
          <p:spPr>
            <a:xfrm>
              <a:off x="457200" y="3401568"/>
              <a:ext cx="406908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200"/>
                <a:buFont typeface="Manrope Medium"/>
                <a:buNone/>
              </a:pPr>
              <a:r>
                <a:rPr b="1" i="0" lang="en-US" sz="1200" u="none" cap="none" strike="noStrike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3. LLM response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457200" y="3648456"/>
              <a:ext cx="4069080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900"/>
                <a:buFont typeface="Manrope"/>
                <a:buNone/>
              </a:pPr>
              <a:r>
                <a:rPr b="0" i="1" lang="en-US" sz="9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stop_reason = tool_use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457200" y="3877056"/>
              <a:ext cx="4069080" cy="1051560"/>
            </a:xfrm>
            <a:prstGeom prst="roundRect">
              <a:avLst>
                <a:gd fmla="val 5217" name="adj"/>
              </a:avLst>
            </a:prstGeom>
            <a:solidFill>
              <a:srgbClr val="0F0E1F"/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566928" y="3986784"/>
              <a:ext cx="73152" cy="73152"/>
            </a:xfrm>
            <a:prstGeom prst="ellipse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676656" y="3986784"/>
              <a:ext cx="73152" cy="73152"/>
            </a:xfrm>
            <a:prstGeom prst="ellipse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786384" y="3986784"/>
              <a:ext cx="73152" cy="73152"/>
            </a:xfrm>
            <a:prstGeom prst="ellipse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621792" y="4088823"/>
              <a:ext cx="37398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{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"stop_reason"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"tool_use"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"content"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[{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"type"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"tool_use"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"name"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"lookup_order"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"input"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 {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"id"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800" u="none" cap="none" strike="noStrike">
                  <a:solidFill>
                    <a:srgbClr val="FFD272"/>
                  </a:solidFill>
                  <a:latin typeface="Arial"/>
                  <a:ea typeface="Arial"/>
                  <a:cs typeface="Arial"/>
                  <a:sym typeface="Arial"/>
                </a:rPr>
                <a:t>"ORD-1234"</a:t>
              </a: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}] 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1"/>
          <p:cNvGrpSpPr/>
          <p:nvPr/>
        </p:nvGrpSpPr>
        <p:grpSpPr>
          <a:xfrm>
            <a:off x="4800650" y="1709930"/>
            <a:ext cx="4069200" cy="1526988"/>
            <a:chOff x="457200" y="1783080"/>
            <a:chExt cx="4069200" cy="1526988"/>
          </a:xfrm>
        </p:grpSpPr>
        <p:sp>
          <p:nvSpPr>
            <p:cNvPr id="186" name="Google Shape;186;p11"/>
            <p:cNvSpPr/>
            <p:nvPr/>
          </p:nvSpPr>
          <p:spPr>
            <a:xfrm>
              <a:off x="457200" y="1783080"/>
              <a:ext cx="4069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200"/>
                <a:buFont typeface="Manrope Medium"/>
                <a:buNone/>
              </a:pPr>
              <a:r>
                <a:rPr b="1" lang="en-US" sz="1200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2. User prompt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457200" y="2029968"/>
              <a:ext cx="4069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900"/>
                <a:buFont typeface="Manrope"/>
                <a:buNone/>
              </a:pPr>
              <a:r>
                <a:rPr b="0" i="1" lang="en-US" sz="9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enviada para a API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457200" y="2258568"/>
              <a:ext cx="4069200" cy="1051500"/>
            </a:xfrm>
            <a:prstGeom prst="roundRect">
              <a:avLst>
                <a:gd fmla="val 5217" name="adj"/>
              </a:avLst>
            </a:prstGeom>
            <a:solidFill>
              <a:srgbClr val="0F0E1F"/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566928" y="2368296"/>
              <a:ext cx="73200" cy="73200"/>
            </a:xfrm>
            <a:prstGeom prst="ellipse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676656" y="2368296"/>
              <a:ext cx="73200" cy="73200"/>
            </a:xfrm>
            <a:prstGeom prst="ellipse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786384" y="2368296"/>
              <a:ext cx="73200" cy="73200"/>
            </a:xfrm>
            <a:prstGeom prst="ellipse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566925" y="2470325"/>
              <a:ext cx="37947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rgbClr val="FFD27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rgbClr val="FFD272"/>
                  </a:solidFill>
                </a:rPr>
                <a:t>What's the status of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rgbClr val="E8EBF0"/>
                  </a:solidFill>
                </a:rPr>
                <a:t> order </a:t>
              </a:r>
              <a:r>
                <a:rPr lang="en-US" sz="800">
                  <a:solidFill>
                    <a:srgbClr val="F0A8FF"/>
                  </a:solidFill>
                </a:rPr>
                <a:t>ORD</a:t>
              </a:r>
              <a:r>
                <a:rPr lang="en-US" sz="800">
                  <a:solidFill>
                    <a:srgbClr val="E8EBF0"/>
                  </a:solidFill>
                </a:rPr>
                <a:t>-</a:t>
              </a:r>
              <a:r>
                <a:rPr lang="en-US" sz="800">
                  <a:solidFill>
                    <a:srgbClr val="FF937B"/>
                  </a:solidFill>
                </a:rPr>
                <a:t>1234</a:t>
              </a:r>
              <a:r>
                <a:rPr lang="en-US" sz="800">
                  <a:solidFill>
                    <a:srgbClr val="E8EBF0"/>
                  </a:solidFill>
                </a:rPr>
                <a:t>?</a:t>
              </a:r>
              <a:r>
                <a:rPr lang="en-US" sz="800">
                  <a:solidFill>
                    <a:srgbClr val="FFD272"/>
                  </a:solidFill>
                </a:rPr>
                <a:t>"</a:t>
              </a:r>
              <a:endParaRPr sz="800">
                <a:solidFill>
                  <a:srgbClr val="FFD272"/>
                </a:solidFill>
              </a:endParaRPr>
            </a:p>
          </p:txBody>
        </p:sp>
      </p:grpSp>
      <p:grpSp>
        <p:nvGrpSpPr>
          <p:cNvPr id="193" name="Google Shape;193;p11"/>
          <p:cNvGrpSpPr/>
          <p:nvPr/>
        </p:nvGrpSpPr>
        <p:grpSpPr>
          <a:xfrm>
            <a:off x="4800650" y="3401605"/>
            <a:ext cx="4069200" cy="1526988"/>
            <a:chOff x="457200" y="1783080"/>
            <a:chExt cx="4069200" cy="1526988"/>
          </a:xfrm>
        </p:grpSpPr>
        <p:sp>
          <p:nvSpPr>
            <p:cNvPr id="194" name="Google Shape;194;p11"/>
            <p:cNvSpPr/>
            <p:nvPr/>
          </p:nvSpPr>
          <p:spPr>
            <a:xfrm>
              <a:off x="457200" y="1783080"/>
              <a:ext cx="4069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200"/>
                <a:buFont typeface="Manrope Medium"/>
                <a:buNone/>
              </a:pPr>
              <a:r>
                <a:rPr b="1" lang="en-US" sz="1200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4</a:t>
              </a:r>
              <a:r>
                <a:rPr b="1" lang="en-US" sz="1200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. Tool runs, LLM finalizes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457200" y="2029968"/>
              <a:ext cx="4069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900"/>
                <a:buFont typeface="Manrope"/>
                <a:buNone/>
              </a:pPr>
              <a:r>
                <a:rPr i="1" lang="en-US" sz="900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Texto natural de resposta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457200" y="2258568"/>
              <a:ext cx="4069200" cy="1051500"/>
            </a:xfrm>
            <a:prstGeom prst="roundRect">
              <a:avLst>
                <a:gd fmla="val 5217" name="adj"/>
              </a:avLst>
            </a:prstGeom>
            <a:solidFill>
              <a:srgbClr val="0F0E1F"/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566928" y="2368296"/>
              <a:ext cx="73200" cy="73200"/>
            </a:xfrm>
            <a:prstGeom prst="ellipse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676656" y="2368296"/>
              <a:ext cx="73200" cy="73200"/>
            </a:xfrm>
            <a:prstGeom prst="ellipse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786384" y="2368296"/>
              <a:ext cx="73200" cy="73200"/>
            </a:xfrm>
            <a:prstGeom prst="ellipse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566925" y="2470325"/>
              <a:ext cx="37947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rgbClr val="FFD272"/>
                  </a:solidFill>
                </a:rPr>
                <a:t>Tool response: { "status": "shipped"  }</a:t>
              </a:r>
              <a:endParaRPr sz="800">
                <a:solidFill>
                  <a:srgbClr val="FFD27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rgbClr val="FFD27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rgbClr val="FFD27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rgbClr val="FFD272"/>
                  </a:solidFill>
                </a:rPr>
                <a:t>LLM final response: Order ORD-1234 was shipped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rgbClr val="E8EBF0"/>
                  </a:solidFill>
                </a:rPr>
                <a:t> yesterday and arrives </a:t>
              </a:r>
              <a:r>
                <a:rPr lang="en-US" sz="800">
                  <a:solidFill>
                    <a:srgbClr val="F0A8FF"/>
                  </a:solidFill>
                </a:rPr>
                <a:t>Friday</a:t>
              </a:r>
              <a:r>
                <a:rPr lang="en-US" sz="800">
                  <a:solidFill>
                    <a:srgbClr val="E8EBF0"/>
                  </a:solidFill>
                </a:rPr>
                <a:t>.</a:t>
              </a:r>
              <a:r>
                <a:rPr lang="en-US" sz="800">
                  <a:solidFill>
                    <a:srgbClr val="FFD272"/>
                  </a:solidFill>
                </a:rPr>
                <a:t>"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rgbClr val="FFD27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2AC9BC"/>
                </a:solidFill>
                <a:latin typeface="Manrope"/>
                <a:ea typeface="Manrope"/>
                <a:cs typeface="Manrope"/>
                <a:sym typeface="Manrope"/>
              </a:rPr>
              <a:t>AGENTES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O que é um agente de IA?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Um LLM em loop, com tools, decidindo sozinho até resolver uma tarefa.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57200" y="1874520"/>
            <a:ext cx="4160520" cy="2468880"/>
          </a:xfrm>
          <a:prstGeom prst="roundRect">
            <a:avLst>
              <a:gd fmla="val 2963" name="adj"/>
            </a:avLst>
          </a:prstGeom>
          <a:solidFill>
            <a:srgbClr val="1A1730">
              <a:alpha val="30196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57200" y="1874520"/>
            <a:ext cx="54864" cy="2468880"/>
          </a:xfrm>
          <a:prstGeom prst="rect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640080" y="199339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2AC9B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Anatomia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40080" y="2377440"/>
            <a:ext cx="3886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LLM raciocina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Tools = funções que ele pode chamar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Loop: pensa → chama → observa → repete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Stop condition (end_turn, max steps, timeout)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754880" y="187452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A1730">
              <a:alpha val="30196"/>
            </a:srgbClr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4754880" y="1874520"/>
            <a:ext cx="54864" cy="2468880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4937760" y="1993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6FC"/>
              </a:buClr>
              <a:buSzPts val="1400"/>
              <a:buFont typeface="Manrope Medium"/>
              <a:buNone/>
            </a:pPr>
            <a:r>
              <a:rPr b="1" i="0" lang="en-US" sz="1400" u="none" cap="none" strike="noStrike">
                <a:solidFill>
                  <a:srgbClr val="8B56F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Chatbot vs. Agente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937760" y="2377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Chatbot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583680" y="23774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937760" y="2788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 req → 1 resp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583680" y="2788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N iterações até resolver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937760" y="3200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Passivo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583680" y="3200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Decide sozinho o que chamar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937760" y="3611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Sem efeito colateral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583680" y="3611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Executa ações no mundo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37B"/>
              </a:buClr>
              <a:buSzPts val="1400"/>
              <a:buFont typeface="Manrope Medium"/>
              <a:buNone/>
            </a:pPr>
            <a:r>
              <a:rPr b="1" i="1" lang="en-US" sz="1400" u="none" cap="none" strike="noStrike">
                <a:solidFill>
                  <a:srgbClr val="FF937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Vamos ver isso na prática…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37B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FF937B"/>
                </a:solidFill>
                <a:latin typeface="Manrope"/>
                <a:ea typeface="Manrope"/>
                <a:cs typeface="Manrope"/>
                <a:sym typeface="Manrope"/>
              </a:rPr>
              <a:t>AGENTES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57200" y="566926"/>
            <a:ext cx="82296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Exemplo real: Bits AI (Datadog)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57200" y="996696"/>
            <a:ext cx="502800" cy="36600"/>
          </a:xfrm>
          <a:prstGeom prst="rect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386464" y="1052877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Um agente de observabilidade analisando logs de uma app PHP/Laravel.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dd-agent.png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50" y="1268188"/>
            <a:ext cx="6305899" cy="354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/>
          <p:nvPr/>
        </p:nvSpPr>
        <p:spPr>
          <a:xfrm>
            <a:off x="6397452" y="1540256"/>
            <a:ext cx="292500" cy="292500"/>
          </a:xfrm>
          <a:prstGeom prst="ellipse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6397452" y="1540256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781500" y="1503680"/>
            <a:ext cx="299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781500" y="1796288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entende a tarefa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397452" y="2216912"/>
            <a:ext cx="292500" cy="292500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397452" y="2216912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781500" y="2180336"/>
            <a:ext cx="299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Searched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781500" y="2472944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"large wildcard select", last 7d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397452" y="2893568"/>
            <a:ext cx="292500" cy="292500"/>
          </a:xfrm>
          <a:prstGeom prst="ellipse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6397452" y="289356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781500" y="2856992"/>
            <a:ext cx="299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781500" y="3149600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decide agregar por @context.entrypoint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397452" y="3570224"/>
            <a:ext cx="292500" cy="292500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6397452" y="3570224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781500" y="3533648"/>
            <a:ext cx="299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Resposta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781500" y="3826256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top-5 + insight ~70% do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94199" y="489354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000"/>
              <a:buFont typeface="Manrope"/>
              <a:buNone/>
            </a:pPr>
            <a:r>
              <a:rPr b="0" i="1" lang="en-US" sz="10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Pergunta: “Give me the top 5 entry points with large wildcard selects in the past week, ordered by occurrence.”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4"/>
          <p:cNvGrpSpPr/>
          <p:nvPr/>
        </p:nvGrpSpPr>
        <p:grpSpPr>
          <a:xfrm>
            <a:off x="457200" y="3291840"/>
            <a:ext cx="8275320" cy="1280160"/>
            <a:chOff x="457200" y="3291840"/>
            <a:chExt cx="8275320" cy="1280160"/>
          </a:xfrm>
        </p:grpSpPr>
        <p:sp>
          <p:nvSpPr>
            <p:cNvPr id="259" name="Google Shape;259;p14"/>
            <p:cNvSpPr/>
            <p:nvPr/>
          </p:nvSpPr>
          <p:spPr>
            <a:xfrm>
              <a:off x="457200" y="3291840"/>
              <a:ext cx="8229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200"/>
                <a:buFont typeface="Manrope Medium"/>
                <a:buNone/>
              </a:pPr>
              <a:r>
                <a:rPr b="1" i="0" lang="en-US" sz="1200" u="none" cap="none" strike="noStrike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Opções no ecossistema PHP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57200" y="3657600"/>
              <a:ext cx="1965960" cy="914400"/>
            </a:xfrm>
            <a:prstGeom prst="roundRect">
              <a:avLst>
                <a:gd fmla="val 8000" name="adj"/>
              </a:avLst>
            </a:prstGeom>
            <a:solidFill>
              <a:srgbClr val="1A1730">
                <a:alpha val="40000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57200" y="3657600"/>
              <a:ext cx="1965960" cy="45720"/>
            </a:xfrm>
            <a:prstGeom prst="rect">
              <a:avLst/>
            </a:prstGeom>
            <a:solidFill>
              <a:srgbClr val="7A3EFC"/>
            </a:solidFill>
            <a:ln cap="flat" cmpd="sng" w="12700">
              <a:solidFill>
                <a:srgbClr val="7A3E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94360" y="3822192"/>
              <a:ext cx="1691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PrismPHP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94360" y="4187952"/>
              <a:ext cx="1691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Community, Laravel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2560320" y="3657600"/>
              <a:ext cx="1965960" cy="914400"/>
            </a:xfrm>
            <a:prstGeom prst="roundRect">
              <a:avLst>
                <a:gd fmla="val 8000" name="adj"/>
              </a:avLst>
            </a:prstGeom>
            <a:solidFill>
              <a:srgbClr val="1A1730">
                <a:alpha val="40000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2560320" y="3657600"/>
              <a:ext cx="1965960" cy="45720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2697480" y="3822192"/>
              <a:ext cx="1691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Symfony AI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2697480" y="4187952"/>
              <a:ext cx="1691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Oficial Symfony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663440" y="3657600"/>
              <a:ext cx="1965960" cy="914400"/>
            </a:xfrm>
            <a:prstGeom prst="roundRect">
              <a:avLst>
                <a:gd fmla="val 8000" name="adj"/>
              </a:avLst>
            </a:prstGeom>
            <a:solidFill>
              <a:srgbClr val="1A1730">
                <a:alpha val="40000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63440" y="3657600"/>
              <a:ext cx="1965960" cy="45720"/>
            </a:xfrm>
            <a:prstGeom prst="rect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800600" y="3822192"/>
              <a:ext cx="1691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NeuronAI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800600" y="4187952"/>
              <a:ext cx="1691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Community, agent-first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766560" y="3657600"/>
              <a:ext cx="1965960" cy="914400"/>
            </a:xfrm>
            <a:prstGeom prst="roundRect">
              <a:avLst>
                <a:gd fmla="val 8000" name="adj"/>
              </a:avLst>
            </a:prstGeom>
            <a:solidFill>
              <a:srgbClr val="1A1730">
                <a:alpha val="40000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6766560" y="3657600"/>
              <a:ext cx="1965960" cy="45720"/>
            </a:xfrm>
            <a:prstGeom prst="rect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903720" y="3822192"/>
              <a:ext cx="1691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nrope Medium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Laravel AI SDK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903720" y="4187952"/>
              <a:ext cx="1691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First-party Laravel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4"/>
          <p:cNvGrpSpPr/>
          <p:nvPr/>
        </p:nvGrpSpPr>
        <p:grpSpPr>
          <a:xfrm>
            <a:off x="457200" y="292608"/>
            <a:ext cx="8229600" cy="2816292"/>
            <a:chOff x="457200" y="292608"/>
            <a:chExt cx="8229600" cy="2816292"/>
          </a:xfrm>
        </p:grpSpPr>
        <p:sp>
          <p:nvSpPr>
            <p:cNvPr id="277" name="Google Shape;277;p14"/>
            <p:cNvSpPr/>
            <p:nvPr/>
          </p:nvSpPr>
          <p:spPr>
            <a:xfrm>
              <a:off x="457200" y="566928"/>
              <a:ext cx="8229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SDKs e o problema do multi-provider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57200" y="1133856"/>
              <a:ext cx="502800" cy="36600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57200" y="1417320"/>
              <a:ext cx="82296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300"/>
                <a:buFont typeface="Manrope"/>
                <a:buNone/>
              </a:pPr>
              <a:r>
                <a:rPr b="0" i="0" lang="en-US" sz="13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Cada provider tem seu próprio SDK. E se ele cair?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57200" y="1828800"/>
              <a:ext cx="4160400" cy="1280100"/>
            </a:xfrm>
            <a:prstGeom prst="roundRect">
              <a:avLst>
                <a:gd fmla="val 5714" name="adj"/>
              </a:avLst>
            </a:prstGeom>
            <a:solidFill>
              <a:srgbClr val="1A1730">
                <a:alpha val="30196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57200" y="1828800"/>
              <a:ext cx="54900" cy="1280100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640080" y="1901952"/>
              <a:ext cx="3886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937B"/>
                </a:buClr>
                <a:buSzPts val="1200"/>
                <a:buFont typeface="Manrope Medium"/>
                <a:buNone/>
              </a:pPr>
              <a:r>
                <a:rPr b="1" i="0" lang="en-US" sz="1200" u="none" cap="none" strike="noStrike">
                  <a:solidFill>
                    <a:srgbClr val="FF937B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O problema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640080" y="2240280"/>
              <a:ext cx="38862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nrope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Provider fora do ar, rate limit, troca de modelo — seu código quebra.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754880" y="1828800"/>
              <a:ext cx="3931800" cy="1280100"/>
            </a:xfrm>
            <a:prstGeom prst="roundRect">
              <a:avLst>
                <a:gd fmla="val 5714" name="adj"/>
              </a:avLst>
            </a:prstGeom>
            <a:solidFill>
              <a:srgbClr val="1A1730">
                <a:alpha val="30196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754880" y="1828800"/>
              <a:ext cx="54900" cy="1280100"/>
            </a:xfrm>
            <a:prstGeom prst="rect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4937760" y="1901952"/>
              <a:ext cx="3566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C9BC"/>
                </a:buClr>
                <a:buSzPts val="1200"/>
                <a:buFont typeface="Manrope Medium"/>
                <a:buNone/>
              </a:pPr>
              <a:r>
                <a:rPr b="1" i="0" lang="en-US" sz="1200" u="none" cap="none" strike="noStrike">
                  <a:solidFill>
                    <a:srgbClr val="2AC9B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A solução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4937760" y="2240280"/>
              <a:ext cx="35661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nrope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SDK multi-provider com failover automático e interface unificada.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57200" y="292608"/>
              <a:ext cx="82296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937B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FF937B"/>
                  </a:solidFill>
                  <a:latin typeface="Manrope"/>
                  <a:ea typeface="Manrope"/>
                  <a:cs typeface="Manrope"/>
                  <a:sym typeface="Manrope"/>
                </a:rPr>
                <a:t>ECOSSISTEMA 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EFC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7A3EFC"/>
                </a:solidFill>
                <a:latin typeface="Manrope"/>
                <a:ea typeface="Manrope"/>
                <a:cs typeface="Manrope"/>
                <a:sym typeface="Manrope"/>
              </a:rPr>
              <a:t>SDK  ·  PRISMPHP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PrismPHP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7A3EFC"/>
          </a:solidFill>
          <a:ln cap="flat" cmpd="sng" w="1270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Interface unificada para LLMs no Laravel  ·  community-driven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7200" y="16733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050"/>
              <a:buFont typeface="Manrope"/>
              <a:buNone/>
            </a:pPr>
            <a:r>
              <a:rPr b="0" i="0" lang="en-US" sz="105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Multi-provider · Tool calling · Structured output · Streaming · </a:t>
            </a:r>
            <a:r>
              <a:rPr b="1" i="0" lang="en-US" sz="1050" u="none" cap="none" strike="noStrike">
                <a:solidFill>
                  <a:srgbClr val="2AC9BC"/>
                </a:solidFill>
                <a:latin typeface="Manrope"/>
                <a:ea typeface="Manrope"/>
                <a:cs typeface="Manrope"/>
                <a:sym typeface="Manrope"/>
              </a:rPr>
              <a:t>MCP client (via Relay)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57200" y="192024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6FC"/>
              </a:buClr>
              <a:buSzPts val="1100"/>
              <a:buFont typeface="Manrope Medium"/>
              <a:buNone/>
            </a:pPr>
            <a:r>
              <a:rPr b="1" i="0" lang="en-US" sz="1100" u="none" cap="none" strike="noStrike">
                <a:solidFill>
                  <a:srgbClr val="8B56F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Definir a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57200" y="2240280"/>
            <a:ext cx="4069200" cy="2423100"/>
          </a:xfrm>
          <a:prstGeom prst="roundRect">
            <a:avLst>
              <a:gd fmla="val 2264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566928" y="235000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76656" y="235000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786384" y="235000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21792" y="2532888"/>
            <a:ext cx="373989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C9BC"/>
                </a:solidFill>
                <a:latin typeface="Arial"/>
                <a:ea typeface="Arial"/>
                <a:cs typeface="Arial"/>
                <a:sym typeface="Arial"/>
              </a:rPr>
              <a:t>$orderTool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1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11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'lookup_order'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</a:t>
            </a:r>
            <a:r>
              <a:rPr b="0" i="0" lang="en-US" sz="11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"Looks up an order's status"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-&gt;withStringParameter(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'id'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'Order ID'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-&gt;using(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1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1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2AC9BC"/>
                </a:solidFill>
                <a:latin typeface="Arial"/>
                <a:ea typeface="Arial"/>
                <a:cs typeface="Arial"/>
                <a:sym typeface="Arial"/>
              </a:rPr>
              <a:t>$id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b="0" i="0" lang="en-US" sz="11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=&gt;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-US" sz="11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::find(</a:t>
            </a:r>
            <a:r>
              <a:rPr b="0" i="0" lang="en-US" sz="1100" u="none" cap="none" strike="noStrike">
                <a:solidFill>
                  <a:srgbClr val="2AC9BC"/>
                </a:solidFill>
                <a:latin typeface="Arial"/>
                <a:ea typeface="Arial"/>
                <a:cs typeface="Arial"/>
                <a:sym typeface="Arial"/>
              </a:rPr>
              <a:t>$id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)-&gt;toJson()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617720" y="192024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100"/>
              <a:buFont typeface="Manrope Medium"/>
              <a:buNone/>
            </a:pPr>
            <a:r>
              <a:rPr b="1" i="0" lang="en-US" sz="1100" u="none" cap="none" strike="noStrike">
                <a:solidFill>
                  <a:srgbClr val="2AC9BC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Usar com o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4617720" y="2240280"/>
            <a:ext cx="4069080" cy="2423160"/>
          </a:xfrm>
          <a:prstGeom prst="roundRect">
            <a:avLst>
              <a:gd fmla="val 2264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4727448" y="235000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837176" y="235000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4946904" y="235000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782312" y="2532888"/>
            <a:ext cx="373989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C9B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C9BC"/>
                </a:solidFill>
                <a:latin typeface="Arial"/>
                <a:ea typeface="Arial"/>
                <a:cs typeface="Arial"/>
                <a:sym typeface="Arial"/>
              </a:rPr>
              <a:t>$response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1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Prism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::text()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-&gt;using(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1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11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Anthropic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'claude-sonnet'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-&gt;withMaxSteps(</a:t>
            </a:r>
            <a:r>
              <a:rPr b="0" i="0" lang="en-US" sz="1100" u="none" cap="none" strike="noStrike">
                <a:solidFill>
                  <a:srgbClr val="FF937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-&gt;withTools([</a:t>
            </a:r>
            <a:r>
              <a:rPr b="0" i="0" lang="en-US" sz="1100" u="none" cap="none" strike="noStrike">
                <a:solidFill>
                  <a:srgbClr val="2AC9BC"/>
                </a:solidFill>
                <a:latin typeface="Arial"/>
                <a:ea typeface="Arial"/>
                <a:cs typeface="Arial"/>
                <a:sym typeface="Arial"/>
              </a:rPr>
              <a:t>$orderTool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-&gt;withPrompt(</a:t>
            </a:r>
            <a:r>
              <a:rPr b="0" i="0" lang="en-US" sz="11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'Status of order ORD-1234?'</a:t>
            </a: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-&gt;asText();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6"/>
          <p:cNvGrpSpPr/>
          <p:nvPr/>
        </p:nvGrpSpPr>
        <p:grpSpPr>
          <a:xfrm>
            <a:off x="457200" y="292608"/>
            <a:ext cx="8229600" cy="877824"/>
            <a:chOff x="457200" y="292608"/>
            <a:chExt cx="8229600" cy="877824"/>
          </a:xfrm>
        </p:grpSpPr>
        <p:sp>
          <p:nvSpPr>
            <p:cNvPr id="317" name="Google Shape;317;p16"/>
            <p:cNvSpPr/>
            <p:nvPr/>
          </p:nvSpPr>
          <p:spPr>
            <a:xfrm>
              <a:off x="457200" y="292608"/>
              <a:ext cx="82296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937B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FF937B"/>
                  </a:solidFill>
                  <a:latin typeface="Manrope"/>
                  <a:ea typeface="Manrope"/>
                  <a:cs typeface="Manrope"/>
                  <a:sym typeface="Manrope"/>
                </a:rPr>
                <a:t>SDK  ·  ALTERNATIVAS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457200" y="566928"/>
              <a:ext cx="82296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Symfony AI &amp; NeuronAI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457200" y="1133856"/>
              <a:ext cx="502920" cy="36576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16"/>
          <p:cNvGrpSpPr/>
          <p:nvPr/>
        </p:nvGrpSpPr>
        <p:grpSpPr>
          <a:xfrm>
            <a:off x="457200" y="1691640"/>
            <a:ext cx="4160520" cy="3108960"/>
            <a:chOff x="457200" y="1691640"/>
            <a:chExt cx="4160520" cy="3108960"/>
          </a:xfrm>
        </p:grpSpPr>
        <p:sp>
          <p:nvSpPr>
            <p:cNvPr id="321" name="Google Shape;321;p16"/>
            <p:cNvSpPr/>
            <p:nvPr/>
          </p:nvSpPr>
          <p:spPr>
            <a:xfrm>
              <a:off x="457200" y="1691640"/>
              <a:ext cx="4160520" cy="3108960"/>
            </a:xfrm>
            <a:prstGeom prst="roundRect">
              <a:avLst>
                <a:gd fmla="val 2353" name="adj"/>
              </a:avLst>
            </a:prstGeom>
            <a:solidFill>
              <a:srgbClr val="1A1730">
                <a:alpha val="30196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457200" y="1691640"/>
              <a:ext cx="54864" cy="3108960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640080" y="1783080"/>
              <a:ext cx="388620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937B"/>
                </a:buClr>
                <a:buSzPts val="1600"/>
                <a:buFont typeface="Manrope Medium"/>
                <a:buNone/>
              </a:pPr>
              <a:r>
                <a:rPr b="1" i="0" lang="en-US" sz="1600" u="none" cap="none" strike="noStrike">
                  <a:solidFill>
                    <a:srgbClr val="FF937B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Symfony AI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640080" y="2121408"/>
              <a:ext cx="3886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1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Oficial Symfony 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640080" y="2395728"/>
              <a:ext cx="38862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100"/>
                <a:buFont typeface="Manrope"/>
                <a:buNone/>
              </a:pPr>
              <a:r>
                <a:rPr b="0" i="0" lang="en-US" sz="11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70+ pacotes, parceria com PHP Foundation pro MCP SDK oficial. Multi-agent orchestration com handoffs.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640080" y="3063240"/>
              <a:ext cx="3886200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Platform (25+ providers)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Agent (tools, workflows)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Store (vector DBs / RAG)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Chat (histórico)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Mate (MCP server)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MCP Bundle (SDK oficial)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6"/>
          <p:cNvGrpSpPr/>
          <p:nvPr/>
        </p:nvGrpSpPr>
        <p:grpSpPr>
          <a:xfrm>
            <a:off x="4754880" y="1691640"/>
            <a:ext cx="3931920" cy="3108960"/>
            <a:chOff x="4754880" y="1691640"/>
            <a:chExt cx="3931920" cy="3108960"/>
          </a:xfrm>
        </p:grpSpPr>
        <p:sp>
          <p:nvSpPr>
            <p:cNvPr id="328" name="Google Shape;328;p16"/>
            <p:cNvSpPr/>
            <p:nvPr/>
          </p:nvSpPr>
          <p:spPr>
            <a:xfrm>
              <a:off x="4754880" y="1691640"/>
              <a:ext cx="3931920" cy="3108960"/>
            </a:xfrm>
            <a:prstGeom prst="roundRect">
              <a:avLst>
                <a:gd fmla="val 2353" name="adj"/>
              </a:avLst>
            </a:prstGeom>
            <a:solidFill>
              <a:srgbClr val="1A1730">
                <a:alpha val="30196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4754880" y="1691640"/>
              <a:ext cx="54864" cy="3108960"/>
            </a:xfrm>
            <a:prstGeom prst="rect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4937760" y="1783080"/>
              <a:ext cx="35661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C9BC"/>
                </a:buClr>
                <a:buSzPts val="1600"/>
                <a:buFont typeface="Manrope Medium"/>
                <a:buNone/>
              </a:pPr>
              <a:r>
                <a:rPr b="1" i="0" lang="en-US" sz="1600" u="none" cap="none" strike="noStrike">
                  <a:solidFill>
                    <a:srgbClr val="2AC9B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NeuronAI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4937760" y="2121408"/>
              <a:ext cx="3566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1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Community  ·  agent-first  ·  Laravel + Symfony + vanilla PHP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4937760" y="2395728"/>
              <a:ext cx="35661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100"/>
                <a:buFont typeface="Manrope"/>
                <a:buNone/>
              </a:pPr>
              <a:r>
                <a:rPr b="0" i="0" lang="en-US" sz="11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Framework focado em agentes/workflows. Você define Agents e Tools como classes PHP. RAG nativo, observabilidade embutida (Inspector).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937760" y="3063240"/>
              <a:ext cx="3566160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Agents como classes (extends Agent)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Tools como classes (extends Tool)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RAG (Pinecone, Qdrant, pgvector)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Workflows / multi-agent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MCP support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nrope"/>
                <a:buChar char="●"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Observability built-in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72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FFD272"/>
                </a:solidFill>
                <a:latin typeface="Manrope"/>
                <a:ea typeface="Manrope"/>
                <a:cs typeface="Manrope"/>
                <a:sym typeface="Manrope"/>
              </a:rPr>
              <a:t>SDK  ·  PROTAGONISTA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Laravel AI SDK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57200" y="1133856"/>
            <a:ext cx="502920" cy="36576"/>
          </a:xfrm>
          <a:prstGeom prst="rect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First-party  ·  estável com Laravel 1</a:t>
            </a:r>
            <a:r>
              <a:rPr lang="en-US" sz="12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b="0" i="0" lang="en-US" sz="1200" u="none" cap="none" strike="noStrike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  ·  API unificada para múltiplos providers.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457200" y="178308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72"/>
              </a:buClr>
              <a:buSzPts val="1200"/>
              <a:buFont typeface="Manrope Medium"/>
              <a:buNone/>
            </a:pPr>
            <a:r>
              <a:rPr b="1" i="0" lang="en-US" sz="1200" u="none" cap="none" strike="noStrike">
                <a:solidFill>
                  <a:srgbClr val="FFD27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57200" y="2103120"/>
            <a:ext cx="4069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make:agent / make:tool — scaffolding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PHP attributes: #[Provider], #[Model], #[MaxSteps], #[Temperature]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Streaming nativo via -&gt;stream() (SSE)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RAG built-in: vector() column + SimilaritySearch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Embeddings: Str::of(...)-&gt;toEmbeddings()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Failover entre providers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4617720" y="1783080"/>
            <a:ext cx="4069080" cy="3017520"/>
          </a:xfrm>
          <a:prstGeom prst="roundRect">
            <a:avLst>
              <a:gd fmla="val 1818" name="adj"/>
            </a:avLst>
          </a:prstGeom>
          <a:solidFill>
            <a:srgbClr val="0F0E1F"/>
          </a:solidFill>
          <a:ln cap="flat" cmpd="sng" w="9525">
            <a:solidFill>
              <a:srgbClr val="32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4727448" y="1892808"/>
            <a:ext cx="73152" cy="73152"/>
          </a:xfrm>
          <a:prstGeom prst="ellipse">
            <a:avLst/>
          </a:prstGeom>
          <a:solidFill>
            <a:srgbClr val="FF937B"/>
          </a:solidFill>
          <a:ln cap="flat" cmpd="sng" w="1270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4837176" y="1892808"/>
            <a:ext cx="73152" cy="73152"/>
          </a:xfrm>
          <a:prstGeom prst="ellipse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4946904" y="1892808"/>
            <a:ext cx="73152" cy="73152"/>
          </a:xfrm>
          <a:prstGeom prst="ellipse">
            <a:avLst/>
          </a:prstGeom>
          <a:solidFill>
            <a:srgbClr val="2AC9BC"/>
          </a:solidFill>
          <a:ln cap="flat" cmpd="sng" w="1270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166360" y="18288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800"/>
              <a:buFont typeface="Manrope"/>
              <a:buNone/>
            </a:pPr>
            <a:r>
              <a:rPr b="0" i="0" lang="en-US" sz="8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App\Ai\Agents\SalesCoach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4782312" y="2075688"/>
            <a:ext cx="3739896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\{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Concerns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RemembersConversations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Contracts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\{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Conversational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Enums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Promptable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FFB87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B877"/>
                </a:solidFill>
                <a:latin typeface="Arial"/>
                <a:ea typeface="Arial"/>
                <a:cs typeface="Arial"/>
                <a:sym typeface="Arial"/>
              </a:rPr>
              <a:t>#[Provider(Lab::Anthropic)]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FFB87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B877"/>
                </a:solidFill>
                <a:latin typeface="Arial"/>
                <a:ea typeface="Arial"/>
                <a:cs typeface="Arial"/>
                <a:sym typeface="Arial"/>
              </a:rPr>
              <a:t>#[Model('claude-sonnet-4-6')]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B8A6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SalesCoach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implements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Conversational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Promptable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00" u="none" cap="none" strike="noStrike">
                <a:solidFill>
                  <a:srgbClr val="F0A8FF"/>
                </a:solidFill>
                <a:latin typeface="Arial"/>
                <a:ea typeface="Arial"/>
                <a:cs typeface="Arial"/>
                <a:sym typeface="Arial"/>
              </a:rPr>
              <a:t>RemembersConversations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instructions():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900" u="none" cap="none" strike="noStrike">
                <a:solidFill>
                  <a:srgbClr val="B8A6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FD272"/>
                </a:solidFill>
                <a:latin typeface="Arial"/>
                <a:ea typeface="Arial"/>
                <a:cs typeface="Arial"/>
                <a:sym typeface="Arial"/>
              </a:rPr>
              <a:t>'You are a sales coach.'</a:t>
            </a: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E8EB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B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18"/>
          <p:cNvGrpSpPr/>
          <p:nvPr/>
        </p:nvGrpSpPr>
        <p:grpSpPr>
          <a:xfrm>
            <a:off x="457200" y="292608"/>
            <a:ext cx="8229600" cy="2450592"/>
            <a:chOff x="457200" y="292608"/>
            <a:chExt cx="8229600" cy="2450592"/>
          </a:xfrm>
        </p:grpSpPr>
        <p:sp>
          <p:nvSpPr>
            <p:cNvPr id="357" name="Google Shape;357;p18"/>
            <p:cNvSpPr/>
            <p:nvPr/>
          </p:nvSpPr>
          <p:spPr>
            <a:xfrm>
              <a:off x="457200" y="292608"/>
              <a:ext cx="82296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C9BC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2AC9BC"/>
                  </a:solidFill>
                  <a:latin typeface="Manrope"/>
                  <a:ea typeface="Manrope"/>
                  <a:cs typeface="Manrope"/>
                  <a:sym typeface="Manrope"/>
                </a:rPr>
                <a:t>DEMO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457200" y="566928"/>
              <a:ext cx="82296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Construindo o agente de suporte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457200" y="1133856"/>
              <a:ext cx="502920" cy="36576"/>
            </a:xfrm>
            <a:prstGeom prst="rect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457200" y="1417320"/>
              <a:ext cx="822960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200"/>
                <a:buFont typeface="Manrope"/>
                <a:buNone/>
              </a:pPr>
              <a:r>
                <a:rPr b="0" i="0" lang="en-US" sz="12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Web chat que ajuda atendentes humanos a triagem e resolução de tickets — streaming + tool inspector ao vivo.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457200" y="1783080"/>
              <a:ext cx="2651760" cy="960120"/>
            </a:xfrm>
            <a:prstGeom prst="roundRect">
              <a:avLst>
                <a:gd fmla="val 9524" name="adj"/>
              </a:avLst>
            </a:prstGeom>
            <a:solidFill>
              <a:srgbClr val="1A1730">
                <a:alpha val="45098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457200" y="1783080"/>
              <a:ext cx="2651760" cy="45720"/>
            </a:xfrm>
            <a:prstGeom prst="rect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594360" y="192024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list_customers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594360" y="22860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customers + ticket count (filtro opcional)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3246120" y="1783080"/>
              <a:ext cx="2651760" cy="960120"/>
            </a:xfrm>
            <a:prstGeom prst="roundRect">
              <a:avLst>
                <a:gd fmla="val 9524" name="adj"/>
              </a:avLst>
            </a:prstGeom>
            <a:solidFill>
              <a:srgbClr val="1A1730">
                <a:alpha val="45098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3246120" y="1783080"/>
              <a:ext cx="2651760" cy="45720"/>
            </a:xfrm>
            <a:prstGeom prst="rect">
              <a:avLst/>
            </a:prstGeom>
            <a:solidFill>
              <a:srgbClr val="7A3EFC"/>
            </a:solidFill>
            <a:ln cap="flat" cmpd="sng" w="12700">
              <a:solidFill>
                <a:srgbClr val="7A3E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3383280" y="192024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search_tickets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3383280" y="22860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filtro por status, keyword, customer_id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6035040" y="1783080"/>
              <a:ext cx="2651760" cy="960120"/>
            </a:xfrm>
            <a:prstGeom prst="roundRect">
              <a:avLst>
                <a:gd fmla="val 9524" name="adj"/>
              </a:avLst>
            </a:prstGeom>
            <a:solidFill>
              <a:srgbClr val="1A1730">
                <a:alpha val="45098"/>
              </a:srgbClr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6035040" y="1783080"/>
              <a:ext cx="2651760" cy="45720"/>
            </a:xfrm>
            <a:prstGeom prst="rect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6172200" y="192024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update_ticket_status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6172200" y="22860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muda status (com confirmação humana)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8"/>
          <p:cNvGrpSpPr/>
          <p:nvPr/>
        </p:nvGrpSpPr>
        <p:grpSpPr>
          <a:xfrm>
            <a:off x="457200" y="2926080"/>
            <a:ext cx="8229600" cy="2057400"/>
            <a:chOff x="457200" y="2926080"/>
            <a:chExt cx="8229600" cy="2057400"/>
          </a:xfrm>
        </p:grpSpPr>
        <p:sp>
          <p:nvSpPr>
            <p:cNvPr id="374" name="Google Shape;374;p18"/>
            <p:cNvSpPr/>
            <p:nvPr/>
          </p:nvSpPr>
          <p:spPr>
            <a:xfrm>
              <a:off x="457200" y="2926080"/>
              <a:ext cx="41605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1100"/>
                <a:buFont typeface="Manrope Medium"/>
                <a:buNone/>
              </a:pPr>
              <a:r>
                <a:rPr b="1" i="0" lang="en-US" sz="1100" u="none" cap="none" strike="noStrike">
                  <a:solidFill>
                    <a:srgbClr val="FFD272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Stack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457200" y="3246120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Modelo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1828800" y="3246120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Claude Sonnet 4.6 (Anthropic)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457200" y="3538728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SDK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1828800" y="3538728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Laravel/Ai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457200" y="3831336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UI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1828800" y="3831336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Inertia + Vue 3 + Tailwind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457200" y="4123944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Transport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1828800" y="4123944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Server Sent Events </a:t>
              </a: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(SSE)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457200" y="4416552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DB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1828800" y="4416552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SQLite (tickets, customers)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457200" y="4709160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000"/>
                <a:buFont typeface="Manrope"/>
                <a:buNone/>
              </a:pPr>
              <a:r>
                <a:rPr b="0" i="0" lang="en-US" sz="10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MCP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1828800" y="4709160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Laravel/MCP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4754880" y="2926080"/>
              <a:ext cx="39319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56FC"/>
                </a:buClr>
                <a:buSzPts val="1100"/>
                <a:buFont typeface="Manrope Medium"/>
                <a:buNone/>
              </a:pPr>
              <a:r>
                <a:rPr b="1" i="0" lang="en-US" sz="1100" u="none" cap="none" strike="noStrike">
                  <a:solidFill>
                    <a:srgbClr val="8B56FC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Arquitetura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4754880" y="3246120"/>
              <a:ext cx="3931920" cy="1691640"/>
            </a:xfrm>
            <a:prstGeom prst="roundRect">
              <a:avLst>
                <a:gd fmla="val 3243" name="adj"/>
              </a:avLst>
            </a:prstGeom>
            <a:solidFill>
              <a:srgbClr val="0F0E1F"/>
            </a:solidFill>
            <a:ln cap="flat" cmpd="sng" w="9525">
              <a:solidFill>
                <a:srgbClr val="3231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4864608" y="3355848"/>
              <a:ext cx="73152" cy="73152"/>
            </a:xfrm>
            <a:prstGeom prst="ellipse">
              <a:avLst/>
            </a:prstGeom>
            <a:solidFill>
              <a:srgbClr val="FF937B"/>
            </a:solidFill>
            <a:ln cap="flat" cmpd="sng" w="12700">
              <a:solidFill>
                <a:srgbClr val="FF93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4974336" y="3355848"/>
              <a:ext cx="73152" cy="73152"/>
            </a:xfrm>
            <a:prstGeom prst="ellipse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5084064" y="3355848"/>
              <a:ext cx="73152" cy="73152"/>
            </a:xfrm>
            <a:prstGeom prst="ellipse">
              <a:avLst/>
            </a:prstGeom>
            <a:solidFill>
              <a:srgbClr val="2AC9BC"/>
            </a:solidFill>
            <a:ln cap="flat" cmpd="sng" w="12700">
              <a:solidFill>
                <a:srgbClr val="2AC9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4919472" y="3449828"/>
              <a:ext cx="3602700" cy="13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A8FF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Browser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Vue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+ </a:t>
              </a: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Inertia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  │ </a:t>
              </a: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POST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/chat/stream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  ▼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F0A8FF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ChatController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::stream()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  ↓ </a:t>
              </a: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SupportAgent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::</a:t>
              </a:r>
              <a:r>
                <a:rPr lang="en-US" sz="950">
                  <a:solidFill>
                    <a:srgbClr val="B8A6FF"/>
                  </a:solidFill>
                </a:rPr>
                <a:t>make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(...)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  ↓ -&gt;</a:t>
              </a:r>
              <a:r>
                <a:rPr lang="en-US" sz="950">
                  <a:solidFill>
                    <a:srgbClr val="E8EBF0"/>
                  </a:solidFill>
                </a:rPr>
                <a:t>stream()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     ▼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fetch + </a:t>
              </a:r>
              <a:r>
                <a:rPr b="0" i="0" lang="en-US" sz="950" u="none" cap="none" strike="noStrike">
                  <a:solidFill>
                    <a:srgbClr val="F0A8FF"/>
                  </a:solidFill>
                  <a:latin typeface="Arial"/>
                  <a:ea typeface="Arial"/>
                  <a:cs typeface="Arial"/>
                  <a:sym typeface="Arial"/>
                </a:rPr>
                <a:t>ReadableStream</a:t>
              </a: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 → chat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Clr>
                  <a:srgbClr val="E8EBF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E8EBF0"/>
                  </a:solidFill>
                  <a:latin typeface="Arial"/>
                  <a:ea typeface="Arial"/>
                  <a:cs typeface="Arial"/>
                  <a:sym typeface="Arial"/>
                </a:rPr>
                <a:t>(bubbles + tool inspector)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/>
          <p:nvPr/>
        </p:nvSpPr>
        <p:spPr>
          <a:xfrm>
            <a:off x="3248250" y="2320350"/>
            <a:ext cx="264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lang="en-US" sz="2800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Demo chat app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0"/>
          <p:cNvGrpSpPr/>
          <p:nvPr/>
        </p:nvGrpSpPr>
        <p:grpSpPr>
          <a:xfrm>
            <a:off x="457200" y="292608"/>
            <a:ext cx="8229600" cy="1791522"/>
            <a:chOff x="457200" y="292608"/>
            <a:chExt cx="8229600" cy="1791522"/>
          </a:xfrm>
        </p:grpSpPr>
        <p:sp>
          <p:nvSpPr>
            <p:cNvPr id="405" name="Google Shape;405;p20"/>
            <p:cNvSpPr/>
            <p:nvPr/>
          </p:nvSpPr>
          <p:spPr>
            <a:xfrm>
              <a:off x="457200" y="292608"/>
              <a:ext cx="82296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D272"/>
                </a:buClr>
                <a:buSzPts val="1100"/>
                <a:buFont typeface="Manrope"/>
                <a:buNone/>
              </a:pPr>
              <a:r>
                <a:rPr b="1" i="0" lang="en-US" sz="1100" u="none" cap="none" strike="noStrike">
                  <a:solidFill>
                    <a:srgbClr val="FFD272"/>
                  </a:solidFill>
                  <a:latin typeface="Manrope"/>
                  <a:ea typeface="Manrope"/>
                  <a:cs typeface="Manrope"/>
                  <a:sym typeface="Manrope"/>
                </a:rPr>
                <a:t>MCP 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457200" y="566928"/>
              <a:ext cx="82296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Manrope Medium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E o protocolo MCP?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457200" y="1133856"/>
              <a:ext cx="502920" cy="36576"/>
            </a:xfrm>
            <a:prstGeom prst="rect">
              <a:avLst/>
            </a:prstGeom>
            <a:solidFill>
              <a:srgbClr val="FFD272"/>
            </a:solidFill>
            <a:ln cap="flat" cmpd="sng" w="12700">
              <a:solidFill>
                <a:srgbClr val="FFD2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457200" y="1535430"/>
              <a:ext cx="82296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100"/>
                <a:buFont typeface="Manrope"/>
                <a:buNone/>
              </a:pPr>
              <a:r>
                <a:rPr b="0" i="0" lang="en-US" sz="11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Model Context Protocol — padrão aberto </a:t>
              </a:r>
              <a:r>
                <a:rPr lang="en-US" sz="1100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para</a:t>
              </a:r>
              <a:r>
                <a:rPr b="0" i="0" lang="en-US" sz="1100" u="none" cap="none" strike="noStrike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 conectar agentes a tools, dados e contextos externos. Mantido por Anthropic + Microsoft + PHP Foundation. Stdio e HTTP como transports. </a:t>
              </a:r>
              <a:r>
                <a:rPr lang="en-US" sz="900">
                  <a:solidFill>
                    <a:srgbClr val="B8BAD0"/>
                  </a:solidFill>
                  <a:latin typeface="Manrope"/>
                  <a:ea typeface="Manrope"/>
                  <a:cs typeface="Manrope"/>
                  <a:sym typeface="Manrope"/>
                </a:rPr>
                <a:t>Sem vendor lock-in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BAD0"/>
                </a:buClr>
                <a:buSzPts val="1100"/>
                <a:buFont typeface="Manrope"/>
                <a:buNone/>
              </a:pPr>
              <a:r>
                <a:t/>
              </a:r>
              <a:endParaRPr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09" name="Google Shape;409;p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72"/>
              </a:buClr>
              <a:buSzPts val="1100"/>
              <a:buFont typeface="Manrope Medium"/>
              <a:buNone/>
            </a:pPr>
            <a:r>
              <a:rPr b="0" i="1" lang="en-US" sz="1100" u="none" cap="none" strike="noStrike">
                <a:solidFill>
                  <a:srgbClr val="FFD27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Uma tool escrita uma vez vira capacidade de qualquer cliente MCP — Claude Desktop, Cursor, ChatGPT, agente do colega ao lado.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3800"/>
            <a:ext cx="4817475" cy="18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 txBox="1"/>
          <p:nvPr/>
        </p:nvSpPr>
        <p:spPr>
          <a:xfrm>
            <a:off x="5686800" y="1929975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Os servidores MCP podem fornecer três tipos principais de funcionalidades: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Resources: Dados semelhantes a arquivos que podem ser lidos pelos clientes (como respostas de API ou conteúdo de arquivos)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Tools: Funções que podem ser chamadas pelo LLM (com aprovação do usuário)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Prompts: Modelos predefinidos que ajudam os usuários a realizar tarefas específicas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"/>
          <p:cNvSpPr/>
          <p:nvPr/>
        </p:nvSpPr>
        <p:spPr>
          <a:xfrm>
            <a:off x="3248250" y="2320350"/>
            <a:ext cx="30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lang="en-US" sz="2800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Demo MCP server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"/>
          <p:cNvSpPr/>
          <p:nvPr/>
        </p:nvSpPr>
        <p:spPr>
          <a:xfrm>
            <a:off x="457200" y="29260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72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FFD272"/>
                </a:solidFill>
                <a:latin typeface="Manrope"/>
                <a:ea typeface="Manrope"/>
                <a:cs typeface="Manrope"/>
                <a:sym typeface="Manrope"/>
              </a:rPr>
              <a:t>MCP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457200" y="56692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anrope Medium"/>
              <a:buNone/>
            </a:pPr>
            <a:r>
              <a:rPr b="1" lang="en-US" sz="2800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Recomendações</a:t>
            </a:r>
            <a:r>
              <a:rPr b="1" lang="en-US" sz="2800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e lições </a:t>
            </a:r>
            <a:r>
              <a:rPr b="1" lang="en-US" sz="2800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aprendidas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57200" y="1133856"/>
            <a:ext cx="502800" cy="36600"/>
          </a:xfrm>
          <a:prstGeom prst="rect">
            <a:avLst/>
          </a:prstGeom>
          <a:solidFill>
            <a:srgbClr val="FFD272"/>
          </a:solidFill>
          <a:ln cap="flat" cmpd="sng" w="1270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457200" y="1472499"/>
            <a:ext cx="8229600" cy="3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Modelo barato exige prompts mais detalhados e mais exemplos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CAPS ALTA enfatiza instruções críticas (e.g Claude Code rage detector)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Upgrade de modelos = upgrade de dependências — não deixe pra depois (e.g Claude Sonnet 4 -&gt; Claude Sonnet 4.6)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Monitore custos e qualidade desde o dia 1 (LangFuse, Datadog, application alarms, limites por cliente, etc.)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Batch API = 50% de desconto se não precisa de resposta em real-time (prism-php/prism PR #951)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Modelo certo pro job certo — teste antes de casar com um provider (e.g Opus vs GPT for writing)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Leia a doc do provider. Cada um pode ter características que impactam seu use-case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Protocolos: Agent-to-Agent, Agent-to-UI, Agent User Interaction Protocol, MCP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8BAD0"/>
              </a:buClr>
              <a:buSzPts val="1100"/>
              <a:buFont typeface="Manrope"/>
              <a:buChar char="-"/>
            </a:pPr>
            <a:r>
              <a:rPr lang="en-US" sz="1100">
                <a:solidFill>
                  <a:srgbClr val="B8BAD0"/>
                </a:solidFill>
                <a:latin typeface="Manrope"/>
                <a:ea typeface="Manrope"/>
                <a:cs typeface="Manrope"/>
                <a:sym typeface="Manrope"/>
              </a:rPr>
              <a:t>No/Low code agents builder apps: OpenAI Agent Builder, n8n, LangSmith’s, etc.</a:t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8BAD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6FC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B56FC"/>
                </a:solidFill>
                <a:latin typeface="Manrope"/>
                <a:ea typeface="Manrope"/>
                <a:cs typeface="Manrope"/>
                <a:sym typeface="Manrope"/>
              </a:rPr>
              <a:t>FECHAMENTO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457200" y="1408773"/>
            <a:ext cx="8229600" cy="1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nrope Medium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O ecossistema PHP está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nrope Medium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pronto para AI.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457200" y="3484599"/>
            <a:ext cx="1965900" cy="502800"/>
          </a:xfrm>
          <a:prstGeom prst="roundRect">
            <a:avLst>
              <a:gd fmla="val 49091" name="adj"/>
            </a:avLst>
          </a:prstGeom>
          <a:solidFill>
            <a:srgbClr val="1A1730">
              <a:alpha val="50196"/>
            </a:srgbClr>
          </a:solidFill>
          <a:ln cap="flat" cmpd="sng" w="19050">
            <a:solidFill>
              <a:srgbClr val="7A3E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457200" y="3484599"/>
            <a:ext cx="1965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prismphp.com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2560320" y="3484599"/>
            <a:ext cx="1965900" cy="502800"/>
          </a:xfrm>
          <a:prstGeom prst="roundRect">
            <a:avLst>
              <a:gd fmla="val 49091" name="adj"/>
            </a:avLst>
          </a:prstGeom>
          <a:solidFill>
            <a:srgbClr val="1A1730">
              <a:alpha val="50196"/>
            </a:srgbClr>
          </a:solidFill>
          <a:ln cap="flat" cmpd="sng" w="19050">
            <a:solidFill>
              <a:srgbClr val="FF93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2560320" y="3484599"/>
            <a:ext cx="1965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ai.symfony.com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4663440" y="3484599"/>
            <a:ext cx="1965900" cy="502800"/>
          </a:xfrm>
          <a:prstGeom prst="roundRect">
            <a:avLst>
              <a:gd fmla="val 49091" name="adj"/>
            </a:avLst>
          </a:prstGeom>
          <a:solidFill>
            <a:srgbClr val="1A1730">
              <a:alpha val="50196"/>
            </a:srgbClr>
          </a:solidFill>
          <a:ln cap="flat" cmpd="sng" w="19050">
            <a:solidFill>
              <a:srgbClr val="FFD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4663440" y="3484599"/>
            <a:ext cx="1965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laravel.com/ai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6766560" y="3484599"/>
            <a:ext cx="1965900" cy="502800"/>
          </a:xfrm>
          <a:prstGeom prst="roundRect">
            <a:avLst>
              <a:gd fmla="val 49091" name="adj"/>
            </a:avLst>
          </a:prstGeom>
          <a:solidFill>
            <a:srgbClr val="1A1730">
              <a:alpha val="50196"/>
            </a:srgbClr>
          </a:solidFill>
          <a:ln cap="flat" cmpd="sng" w="19050">
            <a:solidFill>
              <a:srgbClr val="2AC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6766560" y="3484599"/>
            <a:ext cx="1965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neuron-ai.dev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448584" y="4431474"/>
            <a:ext cx="8229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1AE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  <a:t>Obrigado!  ·  João Salomão </a:t>
            </a:r>
            <a:br>
              <a:rPr b="0" i="0" lang="en-US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rgbClr val="8E91A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43" name="Google Shape;443;p23"/>
          <p:cNvGrpSpPr/>
          <p:nvPr/>
        </p:nvGrpSpPr>
        <p:grpSpPr>
          <a:xfrm>
            <a:off x="457191" y="4574688"/>
            <a:ext cx="2664193" cy="274200"/>
            <a:chOff x="1490500" y="3137363"/>
            <a:chExt cx="2664193" cy="274200"/>
          </a:xfrm>
        </p:grpSpPr>
        <p:pic>
          <p:nvPicPr>
            <p:cNvPr id="444" name="Google Shape;444;p23"/>
            <p:cNvPicPr preferRelativeResize="0"/>
            <p:nvPr/>
          </p:nvPicPr>
          <p:blipFill rotWithShape="1">
            <a:blip r:embed="rId3">
              <a:alphaModFix/>
            </a:blip>
            <a:srcRect b="3083" l="23735" r="22701" t="3503"/>
            <a:stretch/>
          </p:blipFill>
          <p:spPr>
            <a:xfrm>
              <a:off x="1490500" y="3188988"/>
              <a:ext cx="172300" cy="170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3"/>
            <p:cNvSpPr/>
            <p:nvPr/>
          </p:nvSpPr>
          <p:spPr>
            <a:xfrm>
              <a:off x="1714493" y="3137363"/>
              <a:ext cx="2440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100"/>
                <a:buFont typeface="Manrope"/>
                <a:buNone/>
              </a:pPr>
              <a:br>
                <a:rPr b="0" i="0" lang="en-US" sz="11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</a:br>
              <a:r>
                <a:rPr b="0" i="0" lang="en-US" sz="1100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linkedin.com/in/joao-salomao-js/</a:t>
              </a:r>
              <a:endParaRPr b="0" i="0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100"/>
                <a:buFont typeface="Manrope"/>
                <a:buNone/>
              </a:pPr>
              <a:r>
                <a:t/>
              </a:r>
              <a:endParaRPr sz="1100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46" name="Google Shape;446;p23"/>
          <p:cNvGrpSpPr/>
          <p:nvPr/>
        </p:nvGrpSpPr>
        <p:grpSpPr>
          <a:xfrm>
            <a:off x="448584" y="4848910"/>
            <a:ext cx="3962775" cy="274200"/>
            <a:chOff x="700725" y="2947500"/>
            <a:chExt cx="3962775" cy="274200"/>
          </a:xfrm>
        </p:grpSpPr>
        <p:sp>
          <p:nvSpPr>
            <p:cNvPr id="447" name="Google Shape;447;p23"/>
            <p:cNvSpPr/>
            <p:nvPr/>
          </p:nvSpPr>
          <p:spPr>
            <a:xfrm>
              <a:off x="944700" y="2947500"/>
              <a:ext cx="37188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100"/>
                <a:buFont typeface="Manrope"/>
                <a:buNone/>
              </a:pPr>
              <a:br>
                <a:rPr b="0" i="0" lang="en-US" sz="1100" u="none" cap="none" strike="noStrike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</a:br>
              <a:r>
                <a:rPr lang="en-US" sz="1100">
                  <a:solidFill>
                    <a:srgbClr val="8E91AE"/>
                  </a:solidFill>
                  <a:latin typeface="Manrope"/>
                  <a:ea typeface="Manrope"/>
                  <a:cs typeface="Manrope"/>
                  <a:sym typeface="Manrope"/>
                </a:rPr>
                <a:t>github.com/joao-salomao/talk-php-velho-oeste-2026</a:t>
              </a:r>
              <a:endParaRPr b="0" i="0" sz="1100" u="none" cap="none" strike="noStrike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E91AE"/>
                </a:buClr>
                <a:buSzPts val="1100"/>
                <a:buFont typeface="Manrope"/>
                <a:buNone/>
              </a:pPr>
              <a:r>
                <a:t/>
              </a:r>
              <a:endParaRPr sz="1100">
                <a:solidFill>
                  <a:srgbClr val="8E91A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448" name="Google Shape;44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0725" y="2985263"/>
              <a:ext cx="198675" cy="198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